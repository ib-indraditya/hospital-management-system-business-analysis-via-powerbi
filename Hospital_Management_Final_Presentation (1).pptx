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363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3108960"/>
            <a:ext cx="4114800" cy="4114800"/>
          </a:xfrm>
          <a:prstGeom prst="ellipse">
            <a:avLst/>
          </a:prstGeom>
          <a:solidFill>
            <a:srgbClr val="E6FBF9"/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5120640"/>
            <a:ext cx="2926080" cy="2926080"/>
          </a:xfrm>
          <a:prstGeom prst="ellipse">
            <a:avLst/>
          </a:prstGeom>
          <a:solidFill>
            <a:srgbClr val="FFF3D6"/>
          </a:solidFill>
          <a:ln/>
        </p:spPr>
      </p:sp>
      <p:sp>
        <p:nvSpPr>
          <p:cNvPr id="7" name="Text 5"/>
          <p:cNvSpPr/>
          <p:nvPr/>
        </p:nvSpPr>
        <p:spPr>
          <a:xfrm>
            <a:off x="238626" y="2135124"/>
            <a:ext cx="6723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A3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Hospital Management System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9508" y="3267777"/>
            <a:ext cx="65243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 BI Dashboard for Data-Driven Hospital Operations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548640" cy="73152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0" name="Text 8"/>
          <p:cNvSpPr/>
          <p:nvPr/>
        </p:nvSpPr>
        <p:spPr>
          <a:xfrm>
            <a:off x="227798" y="4029696"/>
            <a:ext cx="65660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fragmented patient, doctor, and billing data into one connected view for faster, better decisions.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8626" y="5943600"/>
            <a:ext cx="2926080" cy="794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Indraditya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Bhattacharyya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Prasam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Kundu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Sadia Uzma Ashrafi 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586A2A-881F-ADA0-7D2D-C0BF04E8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274" y="0"/>
            <a:ext cx="5674090" cy="6857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B3D398-CE01-B390-5BEA-EF856C5EB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627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Problem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operational blind spots hospital management currently can't see in one place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709928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7" name="Image 0" descr="FiAlert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013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Patient No-Show Rate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417320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1709928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1" name="Image 1" descr="Fi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8013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4173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Patient Waiting Time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818120" y="1417320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82712" y="1709928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5" name="Image 2" descr="Fi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80136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14173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Prioritization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94360" y="2633472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292608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9" name="Image 3" descr="FiMapP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01752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263347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Unequal Service Across Cities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206240" y="2633472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370832" y="292608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23" name="Image 4" descr="Fi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30175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83480" y="263347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Patient Service Needs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7818120" y="2633472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982712" y="292608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27" name="Image 5" descr="FiUser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301752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95360" y="263347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Performance Variation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94360" y="3849624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58952" y="4142232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31" name="Image 6" descr="FiActiv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4233672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71600" y="3849624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Admissions for Certain Diagnoses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206240" y="3849624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370832" y="4142232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35" name="Image 7" descr="FiFileTex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272" y="4233672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983480" y="3849624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Coverage Differences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7818120" y="3849624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7982712" y="4142232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39" name="Image 8" descr="FiCalend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4152" y="4233672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95360" y="3849624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Monthly/Yearly Fluctuations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594360" y="5065776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758952" y="5358384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43" name="Image 9" descr="FiDollarSig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" y="5449824"/>
            <a:ext cx="274320" cy="27432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371600" y="5065776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or Low Billing Patterns</a:t>
            </a:r>
            <a:endParaRPr lang="en-US" sz="1150" dirty="0"/>
          </a:p>
        </p:txBody>
      </p:sp>
      <p:sp>
        <p:nvSpPr>
          <p:cNvPr id="45" name="Shape 33"/>
          <p:cNvSpPr/>
          <p:nvPr/>
        </p:nvSpPr>
        <p:spPr>
          <a:xfrm>
            <a:off x="4206240" y="5065776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4370832" y="5358384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47" name="Image 10" descr="FiMessageSqua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2272" y="5449824"/>
            <a:ext cx="274320" cy="27432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4983480" y="5065776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Feedback Issues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Solution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consolidated Power BI dashboard covering the full patient-to-billing journey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7" name="Image 0" descr="Fi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386584"/>
            <a:ext cx="100584" cy="10058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2402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cleaning — placeholder rows and inconsistent category labels resolved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3163824"/>
            <a:ext cx="100584" cy="10058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017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calculated fields — Priority, Recommendation, Refund Policy, Patient Feedback, Waiting Time Improvement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3941064"/>
            <a:ext cx="100584" cy="10058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7947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calculations — No-Show Rate %, department- and doctor-level aggregations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4718304"/>
            <a:ext cx="100584" cy="10058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5720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pages total — 9 core analysis pages, 4 insight deep-dives, 2 executive summary views, plus Problem Statement &amp; Key Insights pages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5495544"/>
            <a:ext cx="100584" cy="10058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5349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companion workbook with recorded macros for repeatable data prep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1463040"/>
            <a:ext cx="5532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sp>
      <p:sp>
        <p:nvSpPr>
          <p:cNvPr id="20" name="Shape 17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21" name="Image 1" descr="Fi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8308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0372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309360" y="2286000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24" name="Text 20"/>
          <p:cNvSpPr/>
          <p:nvPr/>
        </p:nvSpPr>
        <p:spPr>
          <a:xfrm>
            <a:off x="6419088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915400" y="2286000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26" name="Text 22"/>
          <p:cNvSpPr/>
          <p:nvPr/>
        </p:nvSpPr>
        <p:spPr>
          <a:xfrm>
            <a:off x="9025128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309360" y="2852928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28" name="Text 24"/>
          <p:cNvSpPr/>
          <p:nvPr/>
        </p:nvSpPr>
        <p:spPr>
          <a:xfrm>
            <a:off x="6419088" y="28529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Demographics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915400" y="2852928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30" name="Text 26"/>
          <p:cNvSpPr/>
          <p:nvPr/>
        </p:nvSpPr>
        <p:spPr>
          <a:xfrm>
            <a:off x="9025128" y="28529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Doctor's Performance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09360" y="3419856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32" name="Text 28"/>
          <p:cNvSpPr/>
          <p:nvPr/>
        </p:nvSpPr>
        <p:spPr>
          <a:xfrm>
            <a:off x="6419088" y="341985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&amp; Diagnosis Trends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8915400" y="3419856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34" name="Text 30"/>
          <p:cNvSpPr/>
          <p:nvPr/>
        </p:nvSpPr>
        <p:spPr>
          <a:xfrm>
            <a:off x="9025128" y="341985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Occupancy Rate (BOR)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09360" y="3986784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36" name="Text 32"/>
          <p:cNvSpPr/>
          <p:nvPr/>
        </p:nvSpPr>
        <p:spPr>
          <a:xfrm>
            <a:off x="6419088" y="39867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of Stay (LOS)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8915400" y="3986784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38" name="Text 34"/>
          <p:cNvSpPr/>
          <p:nvPr/>
        </p:nvSpPr>
        <p:spPr>
          <a:xfrm>
            <a:off x="9025128" y="39867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Coverage Analysis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309360" y="4553712"/>
            <a:ext cx="2423160" cy="43891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40" name="Text 36"/>
          <p:cNvSpPr/>
          <p:nvPr/>
        </p:nvSpPr>
        <p:spPr>
          <a:xfrm>
            <a:off x="6419088" y="455371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&amp; Yearly Trends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Insight Deep-Dives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dedicated pages that go beyond summary charts into root-cause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7" name="Image 0" descr="Fi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184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 by Doctor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21945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/ median / max waiting time compared per doctor - pinpoints which specific doctors run behind, not just an overall average.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2" name="Image 1" descr="Fi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373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184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&amp; Demographics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46520" y="21945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age broken down by priority tier, cross-checked against gender - shows who the 'give more concern' recommendation actually applies to.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" y="361188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7" name="Image 2" descr="Fi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130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&amp; Billing by Department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14400" y="438912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amount split by department and visit reason, plus a diagnosis funnel - connects clinical cause to financial impact.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26480" y="361188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384048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22" name="Image 3" descr="FiFile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9319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38130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&amp; Admission Detail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46520" y="438912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Patient-level admission and billing detail by insurance provider - the evidence behind the Insurance Coverage recommendation.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Executive &amp; Summary Views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pages built to answer 'what's the state of the hospital, right now' in a single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7" name="Image 0" descr="FiPie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Summarized Dataset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core chart from all 9 analysis pages - no-shows, waiting time, demographics, doctor performance, diagnosis trends, insurance, and monthly trends - consolidated onto one page for a full operational snapshot without clicking through tabs.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508760"/>
            <a:ext cx="55321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73736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2" name="Image 1" descr="Fi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Summarization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5508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second, insight-focused summary - priority treemap, recommendation breakdown by department, diagnosis funnel, and a billing-by-department area chart - built specifically to support the recommendations on the previous slide with visual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Smart Fields Behind the Insights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calculated fields that turn raw columns into direct, actionable answers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0881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08760"/>
            <a:ext cx="2103120" cy="80467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50876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each patient into a priority tier, driving the age/gender prioritization recommendation directly from the data rather than a manual read of the chart.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10881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450592"/>
            <a:ext cx="2103120" cy="80467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5059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450592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per-record suggested action, rolled up by department on the Key Insights Summarization page.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392424"/>
            <a:ext cx="10881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392424"/>
            <a:ext cx="2103120" cy="80467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92424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Policy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392424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the proposed 70%/90% no-show and cancellation refund structure directly into the model as a reference value.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10881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4334256"/>
            <a:ext cx="2103120" cy="80467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334256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 Improvement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4334256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which appointments exceed </a:t>
            </a:r>
            <a:r>
              <a:rPr lang="en-US" sz="110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30-minute </a:t>
            </a: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used in the Waiting Time recommendation.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5276088"/>
            <a:ext cx="10881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5276088"/>
            <a:ext cx="2103120" cy="804672"/>
          </a:xfrm>
          <a:prstGeom prst="rect">
            <a:avLst/>
          </a:prstGeom>
          <a:solidFill>
            <a:srgbClr val="E6FBF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27608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Feedback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527608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service-quality signal, filterable alongside every clinical and financial metric.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Key Insights &amp; Recommendations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shows, and the action it points 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71600"/>
            <a:ext cx="82296" cy="141732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813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 refundable advance fee — 70% refund for no-shows, 90% for cancellations — to discourage last-minute drop-offs.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371600"/>
            <a:ext cx="82296" cy="1417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813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105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wait above 15 minutes should be routed through sub-channels to ease bottlenecks at peak hours.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971800"/>
            <a:ext cx="82296" cy="1417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815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Demographics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4107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under 18 and over 55 (non-emergency) should get priority scheduling; female patients need increased service focus.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971800"/>
            <a:ext cx="82296" cy="1417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0815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Doctor's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4107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doctors on a combined view of experience, rating, and patient feedback — not any single metric alone.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457200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572000"/>
            <a:ext cx="82296" cy="1417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6817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&amp; Admissions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0109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admission counts by diagnosis to anticipate ward and staffing needs ahead of demand spikes.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457200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4572000"/>
            <a:ext cx="82296" cy="14173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6817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&amp; Billing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50109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coverage by provider, and cross-check high/low billing months against feedback, doctor, and diagnosis.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From Data to Decisions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dashboard changes for hospital management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15600" cy="777240"/>
          </a:xfrm>
          <a:prstGeom prst="rect">
            <a:avLst/>
          </a:prstGeom>
          <a:solidFill>
            <a:srgbClr val="00A99C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377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19456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view instead of scattered spreadsheets across patients, doctors, and billing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0515600" cy="777240"/>
          </a:xfrm>
          <a:prstGeom prst="rect">
            <a:avLst/>
          </a:prstGeom>
          <a:solidFill>
            <a:srgbClr val="00A99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2918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10896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identification of which departments, doctors, or time slots need intervention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10515600" cy="777240"/>
          </a:xfrm>
          <a:prstGeom prst="rect">
            <a:avLst/>
          </a:prstGeom>
          <a:solidFill>
            <a:srgbClr val="00A99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2062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2336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lens — insurance and billing patterns tied directly to operational data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solidFill>
            <a:srgbClr val="00A99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51206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120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93776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foundation built to extend — cleaned, structured data ready for deeper modeling as the project grows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781</Words>
  <Application>Microsoft Office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Indraditya Bhattacharyya</cp:lastModifiedBy>
  <cp:revision>4</cp:revision>
  <dcterms:created xsi:type="dcterms:W3CDTF">2026-08-03T18:41:37Z</dcterms:created>
  <dcterms:modified xsi:type="dcterms:W3CDTF">2026-08-04T05:53:45Z</dcterms:modified>
</cp:coreProperties>
</file>